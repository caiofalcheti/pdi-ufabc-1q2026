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6FF"/>
    <a:srgbClr val="0D2137"/>
    <a:srgbClr val="7FAEE1"/>
    <a:srgbClr val="0949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2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005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– CAPA (1–2 min) | Apresentador: qualquer integrante
Diga: 'Nosso projeto desenvolveu um sistema que usa visão computacional e OCR para ler placas de veículos em tempo real. Hoje vamos mostrar como funciona, os desafios que encontramos e o que aprendemos.'
Dica: apresentem-se brevemente e já adiante que haverá demonstração ao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– INTRODUÇÃO (1–2 min) | Apresentador sugerido: Integrante A
Explique o contexto: OCR de placas está em todo lugar — pedágio automático, estacionamentos, câmeras de segurança.
Destaque que apesar de parecer simples, envolve muitas etapas de PDI (Processamento Digital de Imagens).
Mencione que o padrão Mercosul (ABC1D23) introduziu letras e números misturados, o que torna o OCR mais difícil.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– OBJETIVO (1–2 min) | Apresentador sugerido: Integrante A
Leia o objetivo principal e destaque que o sistema funciona de ponta a ponta: da câmera até o texto.
Enfatize a portabilidade (Linux + Windows) — isso exigiu cuidado com caminhos de arquivo e instalação do Tesseract.
Mencione que o foco acadêmico foi no pipeline de PDI, não em performance industrial.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– TECNOLOGIAS (1–2 min) | Apresentador sugerido: Integrante B
Destaque que OpenCV é a 'espinha dorsal' do projeto — quase tudo passa por ele.
Explique que o Tesseract é uma biblioteca de OCR gratuita e open-source da Google, e que o pytesseract é só um wrapper Python para chamá-la.
Comente o uso de shutil.which('tesseract') para garantir compatibilidade entre sistemas operacionais — isso evita hardcode de caminhos.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– FUNCIONAMENTO GERAL (1–2 min) | Apresentador sugerido: Integrante B
Passe por cada etapa do fluxo de forma rápida — os próximos slides detalham cada uma.
Mencione que o sistema pode rodar tanto com câmera ao vivo quanto processando uma pasta de imagens estáticas (modo de teste/avaliação).
Explique que o resultado é impresso no terminal e exibido visualmente com matplotlib.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– PIPELINE (3–4 min) | Apresentador sugerido: Integrante B ou C
Este é o slide mais técnico — mergulhe nos detalhes.
Pré-proc: explique que o Blackhat morfológico realça regiões escuras em fundos claros — perfeito para letras pretas em placa branca.
Detecção: comente que o critério de proporção (largura/altura entre 1.5 e 7) filtra retângulos que 'parecem' placas e descarta outros objetos.
OCR: explique o PSM 7 ('treat as single text line') e a whitelist — isso evita que o Tesseract confunda caracteres com símbolos irrelevantes.
Se o prof perguntar: comente que o sistema separa linha superior e inferior para suportar placas de moto (duas linhas de texto).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– DEMONSTRAÇÃO (2–3 min) | Apresentador sugerido: Integrante C
Se possível, abra o código no computador e rode o sistema AO VIVO neste momento — a demonstração em tempo real vale muito.
Se não for possível, mostre capturas de tela das etapas geradas pelo matplotlib (o sistema já as exibe automaticamente).
Comente o trecho de código: cada linha tem um propósito claro no pipeline. O Blackhat é a etapa-chave que diferencia texto do fundo.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– DESAFIOS (2–3 min) | Apresentador sugerido: Integrante C
Este é um slide importante — mostra que vocês realmente entenderam o problema.
Placas de moto: explique que a lógica de separação usa a mediana da posição Y dos bounding boxes para dividir linha superior e inferior.
Caracteres semelhantes: se você tiver exemplos de erros cometidos pelo sistema, cite-os! Ex: 'Em tal imagem, o sistema leu 8 onde era B'.
Inclinação: seja honesto se o sistema não lida bem com esse caso — mostrar limitações é sinal de maturidade técnica.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– SOLUÇÕES E RESULTADOS (2–3 min) | Apresentador sugerido: Integrante A
Apresente os resultados com honestidade: 70–80% em condições boas é um resultado razoável para um projeto acadêmico.
Se vocês fizeram testes com um dataset de imagens, cite os números reais — 'testamos com X imagens, Y foram lidas corretamente'.
O professor vai valorizar que vocês identificaram as limitações e sabem por quê elas existem.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– CONCLUSÃO (1–2 min) | Apresentador sugerido: qualquer integrante (ou todos)
Retome o objetivo inicial e mostre que foi cumprido.
As melhorias futuras demonstram que vocês pensaram além do escopo acadêmico — o professor valoriza visão de produto.
Dica: para a validação por formato Mercosul, você pode adicionar uma regex simples: r'[A-Z]{3}[0-9][A-Z][0-9]{2}' — mencione isso se quiser impressionar!
Abra para perguntas e tenha o código e as imagens de debug em mãos para mostrar se pedido.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583680" y="54864"/>
            <a:ext cx="256032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537960" y="54864"/>
            <a:ext cx="54864" cy="50886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58368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ABC-1D23 ]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 ATIVO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75120" y="2834640"/>
            <a:ext cx="2286000" cy="54864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675120" y="3035808"/>
            <a:ext cx="2286000" cy="54864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675120" y="3236976"/>
            <a:ext cx="2286000" cy="54864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675120" y="3438144"/>
            <a:ext cx="2286000" cy="54864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675120" y="3639312"/>
            <a:ext cx="2286000" cy="54864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675120" y="3840480"/>
            <a:ext cx="2286000" cy="54864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675120" y="4041648"/>
            <a:ext cx="2286000" cy="54864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675120" y="4242816"/>
            <a:ext cx="2286000" cy="54864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7200" y="3657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 IMAGENS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100584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para Leitura</a:t>
            </a:r>
            <a:endParaRPr lang="en-US" sz="3800" dirty="0">
              <a:solidFill>
                <a:srgbClr val="0D2137"/>
              </a:solidFill>
            </a:endParaRPr>
          </a:p>
          <a:p>
            <a:pPr marL="0" indent="0" algn="l">
              <a:buNone/>
            </a:pPr>
            <a:r>
              <a:rPr lang="en-US" sz="3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Placas Veiculares</a:t>
            </a:r>
            <a:endParaRPr lang="en-US" sz="3800" dirty="0">
              <a:solidFill>
                <a:srgbClr val="0D2137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25603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reconhecimento de caracteres em</a:t>
            </a:r>
            <a:endParaRPr lang="en-US" sz="1500" dirty="0">
              <a:solidFill>
                <a:srgbClr val="0D2137"/>
              </a:solidFill>
            </a:endParaRPr>
          </a:p>
          <a:p>
            <a:pPr marL="0" indent="0" algn="l">
              <a:buNone/>
            </a:pPr>
            <a:r>
              <a:rPr lang="en-US" sz="15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de </a:t>
            </a:r>
            <a:r>
              <a:rPr lang="en-US" sz="15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placas</a:t>
            </a:r>
            <a:r>
              <a:rPr lang="en-US" sz="15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5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condominios</a:t>
            </a:r>
            <a:r>
              <a:rPr lang="en-US" sz="15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carros e motos</a:t>
            </a:r>
            <a:endParaRPr lang="en-US" sz="1500" dirty="0">
              <a:solidFill>
                <a:srgbClr val="0D2137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Caio Nunes  ·  Edson Felipe  ·  Nicolas Vidal</a:t>
            </a:r>
            <a:endParaRPr lang="en-US" sz="1100" dirty="0">
              <a:solidFill>
                <a:srgbClr val="0D2137"/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Disciplina: Processamento Digital de Imagens  ·  [2026/Q1]</a:t>
            </a:r>
            <a:endParaRPr lang="en-US" sz="1100" dirty="0">
              <a:solidFill>
                <a:srgbClr val="0D213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</a:rPr>
              <a:t>INTRODUÇÃO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Leitura Automática de Placas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0077A8"/>
                </a:solidFill>
              </a:rPr>
              <a:t>🚗  Segurança Condominial </a:t>
            </a:r>
            <a:endParaRPr lang="pt-BR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00" dirty="0"/>
              <a:t>Necessidade de identificar automaticamente veículos que entram e saem, aumentando o controle e reduzindo riscos de acesso não autorizado.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A8"/>
                </a:solidFill>
              </a:rPr>
              <a:t>🅿️  Controle de Acesso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00" dirty="0"/>
              <a:t>Automatização de portarias e garagens, permitindo liberação rápida para moradores cadastrados e registro de visitantes sem depender exclusivamente de intervenção humana.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A8"/>
                </a:solidFill>
              </a:rPr>
              <a:t>🔍  Rastreamento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840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00" dirty="0"/>
              <a:t>Manter histórico de entradas e saídas de veículos, auxiliando na análise de ocorrências, aumento da segurança e apoio em casos de incidentes.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4114800" cy="21945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84632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O que é OCR?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18288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</a:rPr>
              <a:t>Optical Character Recognition (Reconhecimento Óptico de Caracteres) é a tecnologia que converte imagens de texto em dados legíveis por máquina.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788920"/>
            <a:ext cx="37490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46320" y="2880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Imagem  →  Pré-proc.  →  Segmentação  →  Texto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611880"/>
            <a:ext cx="4114800" cy="1188720"/>
          </a:xfrm>
          <a:prstGeom prst="rect">
            <a:avLst/>
          </a:prstGeom>
          <a:solidFill>
            <a:srgbClr val="FFF8E1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846320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6914"/>
                </a:solidFill>
              </a:rPr>
              <a:t>💡  Por que é difícil?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400507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F26"/>
                </a:solidFill>
              </a:rPr>
              <a:t>Variação de iluminação, ângulo, sujeira na placa, fontes diferentes entre estados/países e baixa resolução tornam o problema desafiador.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bg1"/>
                </a:solidFill>
              </a:rPr>
              <a:t>OBJETIVO DO PROJETO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nos propusemos a construir</a:t>
            </a:r>
            <a:endParaRPr lang="en-US" sz="2600" dirty="0">
              <a:solidFill>
                <a:srgbClr val="0D2137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solidFill>
            <a:srgbClr val="0D2137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7818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</a:rPr>
              <a:t>Desenvolver um sistema em Python capaz de capturar imagens de veículos via webcam, detectar a placa e retornar o texto reconhecido — compatível com Linux e Windows.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532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</a:rPr>
              <a:t>Captura via webcam</a:t>
            </a:r>
            <a:endParaRPr lang="en-US" sz="1300" dirty="0">
              <a:solidFill>
                <a:srgbClr val="0D2137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27614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Integração com câmera do dispositivo em tempo real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3558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</a:rPr>
              <a:t>Pré-processamento</a:t>
            </a:r>
            <a:endParaRPr lang="en-US" sz="1300" dirty="0">
              <a:solidFill>
                <a:srgbClr val="0D2137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3584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Normalização de iluminação e contraste da imagem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160520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657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178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</a:rPr>
              <a:t>Detecção da placa</a:t>
            </a:r>
            <a:endParaRPr lang="en-US" sz="1300" dirty="0">
              <a:solidFill>
                <a:srgbClr val="0D2137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4400" y="4407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Localização do ROI (Região de Interesse) na imagem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514600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7548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2532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</a:rPr>
              <a:t>Segmentação</a:t>
            </a:r>
            <a:endParaRPr lang="en-US" sz="1300" dirty="0">
              <a:solidFill>
                <a:srgbClr val="0D2137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03520" y="27614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Isolamento de cada caractere da placa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337560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7548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0" y="33558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</a:rPr>
              <a:t>OCR com Tesseract</a:t>
            </a:r>
            <a:endParaRPr lang="en-US" sz="1300" dirty="0">
              <a:solidFill>
                <a:srgbClr val="0D2137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5303520" y="3584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Reconhecimento do texto usando motor OCR open-source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4160520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7548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03520" y="4178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</a:rPr>
              <a:t>Compatibilidade</a:t>
            </a:r>
            <a:endParaRPr lang="en-US" sz="1300" dirty="0">
              <a:solidFill>
                <a:srgbClr val="0D2137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5303520" y="4407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Funcional em Ubuntu/Linux e Windows sem alterações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</a:rPr>
              <a:t>TECNOLOGIAS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utilizada no projeto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3075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🐍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13075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A8"/>
                </a:solidFill>
              </a:rPr>
              <a:t>Python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600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6"/>
                </a:solidFill>
              </a:rPr>
              <a:t>Linguagem principal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Ambiente virtual, pip, compatível com Linux e Windows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46320" y="13075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0" y="13075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A8"/>
                </a:solidFill>
              </a:rPr>
              <a:t>OpenCV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600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6"/>
                </a:solidFill>
              </a:rPr>
              <a:t>Processamento de imagem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Leitura de câmera, morfologia, binarização, contornos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57200" y="2496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097280" y="24963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A8"/>
                </a:solidFill>
              </a:rPr>
              <a:t>NumPy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788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6"/>
                </a:solidFill>
              </a:rPr>
              <a:t>Manipulação de arrays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Operações matriciais sobre pixels e kernels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42316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846320" y="2496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🔤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86400" y="24963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A8"/>
                </a:solidFill>
              </a:rPr>
              <a:t>Tesseract OCR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2788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6"/>
                </a:solidFill>
              </a:rPr>
              <a:t>Reconhecimento de texto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Motor open-source de OCR via pytesseract (wrapper Python)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61188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57200" y="3685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097280" y="36850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A8"/>
                </a:solidFill>
              </a:rPr>
              <a:t>Matplotlib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977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6"/>
                </a:solidFill>
              </a:rPr>
              <a:t>Visualização e debug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4206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Exibição de etapas intermediárias do pipeline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61188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846320" y="3685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486400" y="36850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A8"/>
                </a:solidFill>
              </a:rPr>
              <a:t>Linux &amp; Windows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0" y="3977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6"/>
                </a:solidFill>
              </a:rPr>
              <a:t>Compatibilidade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4206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shutil.which() para encontrar tesseract em qualquer 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bg1"/>
                </a:solidFill>
              </a:rPr>
              <a:t>FUNCIONAMENTO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geral do sistema</a:t>
            </a:r>
            <a:endParaRPr lang="en-US" sz="2600" dirty="0">
              <a:solidFill>
                <a:srgbClr val="0D2137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280160" cy="128016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</a:rPr>
              <a:t>Captura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</a:rPr>
              <a:t>de Imagem</a:t>
            </a:r>
          </a:p>
        </p:txBody>
      </p:sp>
      <p:sp>
        <p:nvSpPr>
          <p:cNvPr id="9" name="Shape 7"/>
          <p:cNvSpPr/>
          <p:nvPr/>
        </p:nvSpPr>
        <p:spPr>
          <a:xfrm>
            <a:off x="1737360" y="1847088"/>
            <a:ext cx="384048" cy="548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048256" y="17373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21408" y="1280160"/>
            <a:ext cx="1280160" cy="1280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121408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121408" y="2057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29968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</a:rPr>
              <a:t>Pré-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</a:rPr>
              <a:t>processamento</a:t>
            </a:r>
          </a:p>
        </p:txBody>
      </p:sp>
      <p:sp>
        <p:nvSpPr>
          <p:cNvPr id="15" name="Shape 13"/>
          <p:cNvSpPr/>
          <p:nvPr/>
        </p:nvSpPr>
        <p:spPr>
          <a:xfrm>
            <a:off x="3401568" y="1847088"/>
            <a:ext cx="384048" cy="548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712464" y="17373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85616" y="1280160"/>
            <a:ext cx="1280160" cy="1280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785616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785616" y="2057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94176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</a:rPr>
              <a:t>Detecção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</a:rPr>
              <a:t>da Placa</a:t>
            </a:r>
          </a:p>
        </p:txBody>
      </p:sp>
      <p:sp>
        <p:nvSpPr>
          <p:cNvPr id="21" name="Shape 19"/>
          <p:cNvSpPr/>
          <p:nvPr/>
        </p:nvSpPr>
        <p:spPr>
          <a:xfrm>
            <a:off x="5065776" y="1847088"/>
            <a:ext cx="384048" cy="548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376672" y="17373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49824" y="1280160"/>
            <a:ext cx="1280160" cy="1280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449824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🔤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49824" y="2057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58384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</a:rPr>
              <a:t>Segmentação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</a:rPr>
              <a:t>de Chars.</a:t>
            </a:r>
          </a:p>
        </p:txBody>
      </p:sp>
      <p:sp>
        <p:nvSpPr>
          <p:cNvPr id="27" name="Shape 25"/>
          <p:cNvSpPr/>
          <p:nvPr/>
        </p:nvSpPr>
        <p:spPr>
          <a:xfrm>
            <a:off x="6729984" y="1847088"/>
            <a:ext cx="384048" cy="548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040880" y="17373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114032" y="1280160"/>
            <a:ext cx="1280160" cy="128016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114032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114032" y="2057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22592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</a:rPr>
              <a:t>OCR &amp;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0D2137"/>
                </a:solidFill>
              </a:rPr>
              <a:t>Resultado</a:t>
            </a:r>
          </a:p>
        </p:txBody>
      </p:sp>
      <p:sp>
        <p:nvSpPr>
          <p:cNvPr id="33" name="Shape 31"/>
          <p:cNvSpPr/>
          <p:nvPr/>
        </p:nvSpPr>
        <p:spPr>
          <a:xfrm>
            <a:off x="365760" y="3566160"/>
            <a:ext cx="3931920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365760" y="3566160"/>
            <a:ext cx="91440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4864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Câmera / Arquivo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3977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</a:rPr>
              <a:t>Webcam ao vivo ou imagens .jpg/.png de uma pasta. O usuário pressiona um botão para capturar.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3566160"/>
            <a:ext cx="3931920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4754880" y="3566160"/>
            <a:ext cx="91440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93776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Resultado Final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37760" y="3977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</a:rPr>
              <a:t>Texto da placa impresso no terminal e exibido na janela. Ex: 'Placa OCR: ABC 1D23'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</a:rPr>
              <a:t>PIPELINE DE PDI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etapas técnicas ao texto final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83464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Pré-processamento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84048" y="1755648"/>
            <a:ext cx="164592" cy="16459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21792" y="1737360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F26"/>
                </a:solidFill>
              </a:rPr>
              <a:t>Conversão para escala de cinza (cv2.cvtColor)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322576"/>
            <a:ext cx="164592" cy="16459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21792" y="230428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F26"/>
                </a:solidFill>
              </a:rPr>
              <a:t>Blur Gaussiano 5×5 (reduz ruído)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889504"/>
            <a:ext cx="164592" cy="16459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21792" y="2871216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F26"/>
                </a:solidFill>
              </a:rPr>
              <a:t>Equalização de histograma (contraste)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3456432"/>
            <a:ext cx="164592" cy="16459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21792" y="3438144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F26"/>
                </a:solidFill>
              </a:rPr>
              <a:t>Operação Blackhat morfológica (realça texto escuro)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27832" y="1234440"/>
            <a:ext cx="28346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319272" y="1234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Detecção da Placa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27832" y="164592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337560" y="1755648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575304" y="1737360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F26"/>
                </a:solidFill>
              </a:rPr>
              <a:t>Binarização OTSU + inversão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2322576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575304" y="230428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F26"/>
                </a:solidFill>
              </a:rPr>
              <a:t>Fechamento morfológico (MORPH_CLOSE)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28895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575304" y="2871216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F26"/>
                </a:solidFill>
              </a:rPr>
              <a:t>Dilatação e Abertura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3456432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575304" y="3438144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F26"/>
                </a:solidFill>
              </a:rPr>
              <a:t>Busca de contornos (findContours)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402336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575304" y="400507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F26"/>
                </a:solidFill>
              </a:rPr>
              <a:t>Filtro: proporção e área do bounding rect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81344" y="1234440"/>
            <a:ext cx="2834640" cy="4114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272784" y="1234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OCR dos Caracteres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81344" y="164592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291072" y="1755648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528816" y="1737360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F26"/>
                </a:solidFill>
              </a:rPr>
              <a:t>Extração do ROI com padding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91072" y="2322576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528816" y="230428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F26"/>
                </a:solidFill>
              </a:rPr>
              <a:t>Binarização + isolamento de chars por contorno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91072" y="2889504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528816" y="2871216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F26"/>
                </a:solidFill>
              </a:rPr>
              <a:t>Separação em linha superior / inferior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91072" y="3456432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528816" y="3438144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F26"/>
                </a:solidFill>
              </a:rPr>
              <a:t>Redimensionamento 40×60 px por caractere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91072" y="4023360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6528816" y="400507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F26"/>
                </a:solidFill>
              </a:rPr>
              <a:t>Tesseract PSM 7 com whitelist alfanumérica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bg1"/>
                </a:solidFill>
              </a:rPr>
              <a:t>DEMONSTRAÇÃO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captura ao resultado — passo a passo</a:t>
            </a:r>
            <a:endParaRPr lang="en-US" sz="2600" dirty="0">
              <a:solidFill>
                <a:srgbClr val="0D2137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554480" cy="1188720"/>
          </a:xfrm>
          <a:prstGeom prst="rect">
            <a:avLst/>
          </a:prstGeom>
          <a:solidFill>
            <a:schemeClr val="bg1"/>
          </a:solidFill>
          <a:ln w="1905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7A8"/>
                </a:solidFill>
              </a:rPr>
              <a:t>Imagem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77A8"/>
                </a:solidFill>
              </a:rPr>
              <a:t>Original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BGR colorido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93392" y="1234440"/>
            <a:ext cx="1554480" cy="1188720"/>
          </a:xfrm>
          <a:prstGeom prst="rect">
            <a:avLst/>
          </a:prstGeom>
          <a:solidFill>
            <a:schemeClr val="bg1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993392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Blackhat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(cinza)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93392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Texto realçado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47872" y="16916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12464" y="1234440"/>
            <a:ext cx="1554480" cy="1188720"/>
          </a:xfrm>
          <a:prstGeom prst="rect">
            <a:avLst/>
          </a:prstGeom>
          <a:solidFill>
            <a:schemeClr val="bg1"/>
          </a:solidFill>
          <a:ln w="19050">
            <a:solidFill>
              <a:srgbClr val="02A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712464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A878"/>
                </a:solidFill>
              </a:rPr>
              <a:t>Binarização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2A878"/>
                </a:solidFill>
              </a:rPr>
              <a:t>OTSU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12464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P&amp;B invertido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66944" y="16916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31536" y="1234440"/>
            <a:ext cx="1554480" cy="1188720"/>
          </a:xfrm>
          <a:prstGeom prst="rect">
            <a:avLst/>
          </a:prstGeom>
          <a:solidFill>
            <a:schemeClr val="bg1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431536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Fechamento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Morfológico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31536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Regiões unidas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86016" y="16916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50608" y="1234440"/>
            <a:ext cx="1554480" cy="1188720"/>
          </a:xfrm>
          <a:prstGeom prst="rect">
            <a:avLst/>
          </a:prstGeom>
          <a:solidFill>
            <a:schemeClr val="bg1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150608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B950"/>
                </a:solidFill>
              </a:rPr>
              <a:t>Placa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FB950"/>
                </a:solidFill>
              </a:rPr>
              <a:t>Isolada (ROI)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50608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Recorte padded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606040"/>
            <a:ext cx="8595360" cy="2286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57200" y="2651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Trecho do código: processamento e detecção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2971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949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processar_imagem(img_original):</a:t>
            </a:r>
            <a:endParaRPr lang="en-US" sz="1100" dirty="0">
              <a:solidFill>
                <a:srgbClr val="094963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img_cinza = cv2.cvtColor(img_original, cv2.COLOR_BGR2GRAY)</a:t>
            </a:r>
            <a:endParaRPr lang="en-US" sz="1100" dirty="0">
              <a:solidFill>
                <a:srgbClr val="0D2137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img_blur  = cv2.GaussianBlur(img_cinza, (5,5), 0)</a:t>
            </a:r>
            <a:endParaRPr lang="en-US" sz="1100" dirty="0">
              <a:solidFill>
                <a:srgbClr val="0D2137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img_eq    = cv2.equalizeHist(img_blur)</a:t>
            </a:r>
            <a:endParaRPr lang="en-US" sz="1100" dirty="0">
              <a:solidFill>
                <a:srgbClr val="0D2137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kernel    = np.ones((15,15), np.uint8)</a:t>
            </a:r>
            <a:endParaRPr lang="en-US" sz="1100" dirty="0">
              <a:solidFill>
                <a:srgbClr val="0D2137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blackhat  = cv2.morphologyEx(img_eq, cv2.MORPH_BLACKHAT, kernel)</a:t>
            </a:r>
            <a:endParaRPr lang="en-US" sz="1100" dirty="0">
              <a:solidFill>
                <a:srgbClr val="0D2137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blackhat  # texto escuro realçado</a:t>
            </a:r>
            <a:endParaRPr lang="en-US" sz="1100" dirty="0">
              <a:solidFill>
                <a:srgbClr val="0D213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</a:rPr>
              <a:t>DESAFIOS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 encontrados no desenvolvimento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9144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</a:rPr>
              <a:t> Placas de Moto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F26"/>
                </a:solidFill>
              </a:rPr>
              <a:t>Motos têm duas linhas de texto (letras em cima, números embaixo). A proporção da placa é diferente, e o tamanho é menor — o que exigiu lógica de separação de linhas no código.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11480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91440" cy="1554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937760" y="1325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</a:rPr>
              <a:t>↗️  Placas Inclinadas / Tortas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70992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F26"/>
                </a:solidFill>
              </a:rPr>
              <a:t>Imagens capturadas em ângulo causam deformação nos caracteres. Técnicas de perspectiva (warp) ajudam, mas aumentam a complexidade. No sistema atual, a binarização robusta ameniza o problema.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11480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91440" cy="15544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48640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</a:rPr>
              <a:t>5/S B/8  Caracteres Semelhantes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40156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F26"/>
                </a:solidFill>
              </a:rPr>
              <a:t>O OCR frequentemente confunde S↔5, B↔8, O↔0, I↔1. A whitelist no Tesseract ajuda, mas não elimina completamente o erro — especialmente com placas sujas ou de baixa resolução.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11480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91440" cy="1554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937760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</a:rPr>
              <a:t>💡  Iluminação Variável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40156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F26"/>
                </a:solidFill>
              </a:rPr>
              <a:t>Luz solar direta, reflexo no capô e sombras criam inconsistências. A equalização de histograma e o Blackhat morfológico foram cruciais para tornar o sistema mais robusto.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bg1"/>
                </a:solidFill>
              </a:rPr>
              <a:t>SOLUÇÕES &amp; RESULTADOS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funcionou e o que aprendemos</a:t>
            </a:r>
            <a:endParaRPr lang="en-US" sz="2600" dirty="0">
              <a:solidFill>
                <a:srgbClr val="0D2137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Soluções Implementadas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Blackhat morfológico → Realce robusto do texto da placa independente da iluminação</a:t>
            </a:r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0D2137"/>
                </a:solidFill>
              </a:rPr>
              <a:t>Separação</a:t>
            </a:r>
            <a:r>
              <a:rPr lang="en-US" sz="1200" dirty="0">
                <a:solidFill>
                  <a:srgbClr val="0D2137"/>
                </a:solidFill>
              </a:rPr>
              <a:t> de linhas (sup/inf) → Suporte completo a placas de moto</a:t>
            </a:r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Padding no ROI (+20% largura, +35% altura) → Evita cortar bordas da placa</a:t>
            </a:r>
          </a:p>
        </p:txBody>
      </p:sp>
      <p:sp>
        <p:nvSpPr>
          <p:cNvPr id="9" name="Text 7"/>
          <p:cNvSpPr/>
          <p:nvPr/>
        </p:nvSpPr>
        <p:spPr>
          <a:xfrm>
            <a:off x="365760" y="35661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Whitelist Tesseract (A–Z, 0–9) → Reduz confusões com símbolos irrelevantes</a:t>
            </a:r>
          </a:p>
        </p:txBody>
      </p:sp>
      <p:sp>
        <p:nvSpPr>
          <p:cNvPr id="10" name="Text 8"/>
          <p:cNvSpPr/>
          <p:nvPr/>
        </p:nvSpPr>
        <p:spPr>
          <a:xfrm>
            <a:off x="365760" y="4206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0D2137"/>
                </a:solidFill>
              </a:rPr>
              <a:t>shutil.which</a:t>
            </a:r>
            <a:r>
              <a:rPr lang="en-US" sz="1200" dirty="0">
                <a:solidFill>
                  <a:srgbClr val="0D2137"/>
                </a:solidFill>
              </a:rPr>
              <a:t>() → Localiza o Tesseract automaticamente em Linux ou Windows</a:t>
            </a:r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02336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54880" y="13258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Resultados Obtidos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0" y="1737360"/>
            <a:ext cx="4023360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846320" y="1783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~70–80%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46320" y="239572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Taxa de leitura correta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(condições ideais)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023360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1C3A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846320" y="30632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846320" y="367588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Tempo de processamento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por imagem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4315968"/>
            <a:ext cx="4023360" cy="5943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846320" y="43616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8166"/>
                </a:solidFill>
              </a:rPr>
              <a:t>⚠️  Limitação: desempenho cai com placas sujas, ângulo &gt;15° ou baixa resolução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</a:rPr>
              <a:t>CONCLUSÃO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construímos e para onde ir</a:t>
            </a:r>
            <a:endParaRPr lang="en-US" sz="2600" dirty="0">
              <a:solidFill>
                <a:srgbClr val="0D2137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Desenvolvemos um sistema funcional de OCR para leitura de placas, cobrindo todo o pipeline de PDI — do pré-processamento à extração de texto — com suporte a carros e motos em Linux e Windows.</a:t>
            </a:r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O que aprendemos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→  Morfologia matemática é chave para realce de texto</a:t>
            </a:r>
          </a:p>
        </p:txBody>
      </p:sp>
      <p:sp>
        <p:nvSpPr>
          <p:cNvPr id="10" name="Text 8"/>
          <p:cNvSpPr/>
          <p:nvPr/>
        </p:nvSpPr>
        <p:spPr>
          <a:xfrm>
            <a:off x="365760" y="2990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→  OCR genérico falha sem pré-processamento adequado</a:t>
            </a:r>
          </a:p>
        </p:txBody>
      </p:sp>
      <p:sp>
        <p:nvSpPr>
          <p:cNvPr id="11" name="Text 9"/>
          <p:cNvSpPr/>
          <p:nvPr/>
        </p:nvSpPr>
        <p:spPr>
          <a:xfrm>
            <a:off x="365760" y="34655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→  Portabilidade exige atenção desde o início do projeto</a:t>
            </a:r>
          </a:p>
        </p:txBody>
      </p:sp>
      <p:sp>
        <p:nvSpPr>
          <p:cNvPr id="12" name="Text 10"/>
          <p:cNvSpPr/>
          <p:nvPr/>
        </p:nvSpPr>
        <p:spPr>
          <a:xfrm>
            <a:off x="365760" y="39410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→  Separação de casos (carro vs. moto) melhora a precisão</a:t>
            </a:r>
          </a:p>
        </p:txBody>
      </p:sp>
      <p:sp>
        <p:nvSpPr>
          <p:cNvPr id="13" name="Shape 11"/>
          <p:cNvSpPr/>
          <p:nvPr/>
        </p:nvSpPr>
        <p:spPr>
          <a:xfrm>
            <a:off x="4572000" y="2148840"/>
            <a:ext cx="36576" cy="274320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75488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429"/>
                </a:solidFill>
              </a:rPr>
              <a:t> Melhorias futuras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514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→  Correção de perspectiva (warp) para placas inclinadas</a:t>
            </a:r>
          </a:p>
        </p:txBody>
      </p:sp>
      <p:sp>
        <p:nvSpPr>
          <p:cNvPr id="16" name="Text 14"/>
          <p:cNvSpPr/>
          <p:nvPr/>
        </p:nvSpPr>
        <p:spPr>
          <a:xfrm>
            <a:off x="4754880" y="2990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→  Redes neurais (YOLOv8) para detecção mais robusta</a:t>
            </a:r>
          </a:p>
        </p:txBody>
      </p:sp>
      <p:sp>
        <p:nvSpPr>
          <p:cNvPr id="17" name="Text 15"/>
          <p:cNvSpPr/>
          <p:nvPr/>
        </p:nvSpPr>
        <p:spPr>
          <a:xfrm>
            <a:off x="4754880" y="34655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→  Interface gráfica (GUI) com feedback visual em tempo real</a:t>
            </a:r>
          </a:p>
        </p:txBody>
      </p:sp>
      <p:sp>
        <p:nvSpPr>
          <p:cNvPr id="18" name="Text 16"/>
          <p:cNvSpPr/>
          <p:nvPr/>
        </p:nvSpPr>
        <p:spPr>
          <a:xfrm>
            <a:off x="4754880" y="39410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→  Pós-processamento: validar formato Mercosul (XXX0X00)</a:t>
            </a:r>
          </a:p>
        </p:txBody>
      </p:sp>
      <p:sp>
        <p:nvSpPr>
          <p:cNvPr id="19" name="Text 17"/>
          <p:cNvSpPr/>
          <p:nvPr/>
        </p:nvSpPr>
        <p:spPr>
          <a:xfrm>
            <a:off x="5503333" y="164592"/>
            <a:ext cx="37829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Obrigado! Perguntas?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590e1b2-66ea-4d45-b1aa-185c322e3ba5}" enabled="1" method="Standard" siteId="{40a64d0b-f2f9-4a34-b1b3-0992ac0e5e4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2076</Words>
  <Application>Microsoft Office PowerPoint</Application>
  <PresentationFormat>On-screen Show (16:9)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OCR para Leitura de Placas Veiculares</dc:title>
  <dc:subject>PptxGenJS Presentation</dc:subject>
  <dc:creator>PptxGenJS</dc:creator>
  <cp:lastModifiedBy>Nicolas Da Costa Vidal</cp:lastModifiedBy>
  <cp:revision>4</cp:revision>
  <dcterms:created xsi:type="dcterms:W3CDTF">2026-04-27T18:43:35Z</dcterms:created>
  <dcterms:modified xsi:type="dcterms:W3CDTF">2026-04-27T19:22:48Z</dcterms:modified>
</cp:coreProperties>
</file>